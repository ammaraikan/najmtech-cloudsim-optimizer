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4.png"/><Relationship Id="rId6" Type="http://schemas.openxmlformats.org/officeDocument/2006/relationships/image" Target="../media/image1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image" Target="../media/image5.png"/><Relationship Id="rId4" Type="http://schemas.openxmlformats.org/officeDocument/2006/relationships/image" Target="../media/image17.png"/><Relationship Id="rId5" Type="http://schemas.openxmlformats.org/officeDocument/2006/relationships/image" Target="../media/image22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Relationship Id="rId7" Type="http://schemas.openxmlformats.org/officeDocument/2006/relationships/image" Target="../media/image37.png"/><Relationship Id="rId8" Type="http://schemas.openxmlformats.org/officeDocument/2006/relationships/image" Target="../media/image38.png"/><Relationship Id="rId9" Type="http://schemas.openxmlformats.org/officeDocument/2006/relationships/image" Target="../media/image39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Relationship Id="rId3" Type="http://schemas.openxmlformats.org/officeDocument/2006/relationships/image" Target="../media/image41.png"/><Relationship Id="rId4" Type="http://schemas.openxmlformats.org/officeDocument/2006/relationships/image" Target="../media/image42.png"/><Relationship Id="rId5" Type="http://schemas.openxmlformats.org/officeDocument/2006/relationships/image" Target="../media/image17.png"/><Relationship Id="rId6" Type="http://schemas.openxmlformats.org/officeDocument/2006/relationships/image" Target="../media/image15.png"/><Relationship Id="rId7" Type="http://schemas.openxmlformats.org/officeDocument/2006/relationships/image" Target="../media/image5.png"/><Relationship Id="rId8" Type="http://schemas.openxmlformats.org/officeDocument/2006/relationships/image" Target="../media/image4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44.png"/><Relationship Id="rId4" Type="http://schemas.openxmlformats.org/officeDocument/2006/relationships/image" Target="../media/image45.png"/><Relationship Id="rId5" Type="http://schemas.openxmlformats.org/officeDocument/2006/relationships/image" Target="../media/image46.png"/><Relationship Id="rId6" Type="http://schemas.openxmlformats.org/officeDocument/2006/relationships/image" Target="../media/image19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Relationship Id="rId3" Type="http://schemas.openxmlformats.org/officeDocument/2006/relationships/image" Target="../media/image52.png"/><Relationship Id="rId4" Type="http://schemas.openxmlformats.org/officeDocument/2006/relationships/image" Target="../media/image53.png"/><Relationship Id="rId5" Type="http://schemas.openxmlformats.org/officeDocument/2006/relationships/image" Target="../media/image54.png"/><Relationship Id="rId6" Type="http://schemas.openxmlformats.org/officeDocument/2006/relationships/image" Target="../media/image55.png"/><Relationship Id="rId7" Type="http://schemas.openxmlformats.org/officeDocument/2006/relationships/image" Target="../media/image34.png"/><Relationship Id="rId8" Type="http://schemas.openxmlformats.org/officeDocument/2006/relationships/image" Target="../media/image56.png"/><Relationship Id="rId9" Type="http://schemas.openxmlformats.org/officeDocument/2006/relationships/image" Target="../media/image5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Relationship Id="rId3" Type="http://schemas.openxmlformats.org/officeDocument/2006/relationships/image" Target="../media/image59.png"/><Relationship Id="rId4" Type="http://schemas.openxmlformats.org/officeDocument/2006/relationships/image" Target="../media/image60.png"/><Relationship Id="rId5" Type="http://schemas.openxmlformats.org/officeDocument/2006/relationships/image" Target="../media/image61.png"/><Relationship Id="rId6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0143C">
                  <a:alpha val="70000"/>
                </a:srgbClr>
              </a:gs>
              <a:gs pos="100000">
                <a:srgbClr val="00143C">
                  <a:alpha val="70000"/>
                </a:srgbClr>
              </a:gs>
            </a:gsLst>
            <a:lin scaled="0" ang="162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5714857" y="1253305"/>
            <a:ext cx="761980" cy="52233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142971" y="2276474"/>
            <a:ext cx="9905752" cy="1466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lnSpc>
                <a:spcPts val="49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FFFFFF"/>
                </a:solidFill>
              </a:rPr>
              <a:t>محاكاة السحابة لـ NajmTech (CloudSim)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9924" y="3971925"/>
            <a:ext cx="4181370" cy="3238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3900"/>
              </a:spcAft>
            </a:pPr>
            <a:r>
              <a:rPr sz="1674" b="0">
                <a:solidFill>
                  <a:srgbClr val="FFFFFF"/>
                </a:solidFill>
              </a:rPr>
              <a:t>مشروع محاكاة البنية التحتية السحابية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09984" y="4867274"/>
            <a:ext cx="298125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</a:rPr>
              <a:t>أمmar يحيى محمد أيكان 202310101030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5272" y="5191125"/>
            <a:ext cx="199067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650"/>
              </a:spcAft>
            </a:pPr>
            <a:r>
              <a:rPr sz="1196" b="0">
                <a:solidFill>
                  <a:srgbClr val="FFFFFF"/>
                </a:solidFill>
              </a:rPr>
              <a:t>أيبان محمد 202310101032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81470" y="5514975"/>
            <a:ext cx="183827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FFFFFF"/>
                </a:solidFill>
              </a:rPr>
              <a:t>تحت إشراف: ط. الأنواد فوز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مقدمة المشروع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58268" y="2571335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286342" y="2533649"/>
            <a:ext cx="481952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محاكاة بيئة سحابية لشركة </a:t>
            </a:r>
            <a:r>
              <a:rPr sz="1196" b="1">
                <a:solidFill>
                  <a:srgbClr val="1565C0"/>
                </a:solidFill>
              </a:rPr>
              <a:t>NajmTech Solutions</a:t>
            </a:r>
            <a:r>
              <a:rPr sz="1196" b="0">
                <a:solidFill>
                  <a:srgbClr val="2C3E50"/>
                </a:solidFill>
              </a:rPr>
              <a:t> باستخدام CloudSim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58268" y="3362739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342" y="3333749"/>
            <a:ext cx="481952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تحليل أداء تنفيذ الأحمال (</a:t>
            </a:r>
            <a:r>
              <a:rPr sz="1196" b="1">
                <a:solidFill>
                  <a:srgbClr val="1565C0"/>
                </a:solidFill>
              </a:rPr>
              <a:t>Cloudlets</a:t>
            </a:r>
            <a:r>
              <a:rPr sz="1196" b="0">
                <a:solidFill>
                  <a:srgbClr val="2C3E50"/>
                </a:solidFill>
              </a:rPr>
              <a:t>) على الموارد الافتراضية (</a:t>
            </a:r>
            <a:r>
              <a:rPr sz="1196" b="1">
                <a:solidFill>
                  <a:srgbClr val="1565C0"/>
                </a:solidFill>
              </a:rPr>
              <a:t>VMs</a:t>
            </a:r>
            <a:r>
              <a:rPr sz="1196" b="0">
                <a:solidFill>
                  <a:srgbClr val="2C3E50"/>
                </a:solidFill>
              </a:rPr>
              <a:t>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58268" y="4154142"/>
            <a:ext cx="266693" cy="22611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276918" y="4133849"/>
            <a:ext cx="3828954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قياس التكلفة التشغيلية وفق نموذج تسعير محدد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58268" y="4677189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10184" y="4648200"/>
            <a:ext cx="44956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حفظ المخرجات بصيغة CSV للتحليل والمقارنة ورسم النتائج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نبذة عن الشركة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58268" y="2705514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838779" y="2676524"/>
            <a:ext cx="426709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شركة </a:t>
            </a:r>
            <a:r>
              <a:rPr sz="1196" b="1">
                <a:solidFill>
                  <a:srgbClr val="1565C0"/>
                </a:solidFill>
              </a:rPr>
              <a:t>قطرية/خليجية</a:t>
            </a:r>
            <a:r>
              <a:rPr sz="1196" b="0">
                <a:solidFill>
                  <a:srgbClr val="2C3E50"/>
                </a:solidFill>
              </a:rPr>
              <a:t> متخصصة في توريد الأجهزة الذكية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58268" y="3228560"/>
            <a:ext cx="266693" cy="19132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342" y="3190874"/>
            <a:ext cx="481952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تقديم حلول </a:t>
            </a:r>
            <a:r>
              <a:rPr sz="1196" b="1">
                <a:solidFill>
                  <a:srgbClr val="1565C0"/>
                </a:solidFill>
              </a:rPr>
              <a:t>استضافة وتكامل سحابي</a:t>
            </a:r>
            <a:r>
              <a:rPr sz="1196" b="0">
                <a:solidFill>
                  <a:srgbClr val="2C3E50"/>
                </a:solidFill>
              </a:rPr>
              <a:t> لربط الأجهزة مع منصات سحابية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58268" y="4028660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29214" y="3990974"/>
            <a:ext cx="467665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تمكين الشركات من نشر أجهزة ذكية في الفروع والمستودعات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58268" y="4534314"/>
            <a:ext cx="266693" cy="208721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05392" y="4505325"/>
            <a:ext cx="4800479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ربط الأجهزة بمنصات سحابية لتحليل البيانات في الزمن الحقيقي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طوبولوجيا الشبكة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58268" y="2705514"/>
            <a:ext cx="266693" cy="20872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036" y="2676524"/>
            <a:ext cx="4552836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شبكة مكونة من </a:t>
            </a:r>
            <a:r>
              <a:rPr sz="1196" b="1">
                <a:solidFill>
                  <a:srgbClr val="1565C0"/>
                </a:solidFill>
              </a:rPr>
              <a:t>5 عقد</a:t>
            </a:r>
            <a:r>
              <a:rPr sz="1196" b="0">
                <a:solidFill>
                  <a:srgbClr val="2C3E50"/>
                </a:solidFill>
              </a:rPr>
              <a:t> و </a:t>
            </a:r>
            <a:r>
              <a:rPr sz="1196" b="1">
                <a:solidFill>
                  <a:srgbClr val="1565C0"/>
                </a:solidFill>
              </a:rPr>
              <a:t>8 روابط</a:t>
            </a:r>
            <a:r>
              <a:rPr sz="1196" b="0">
                <a:solidFill>
                  <a:srgbClr val="2C3E50"/>
                </a:solidFill>
              </a:rPr>
              <a:t> وفق ملف Topology.brite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58268" y="3219864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342" y="3190874"/>
            <a:ext cx="481952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العقد: مركز بيانات رئيسي، مركز بيانات احتياطي، راوتر، سويتش، وسيط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58268" y="4030110"/>
            <a:ext cx="266693" cy="18842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91315" y="3990974"/>
            <a:ext cx="271455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تأخير الشبكة بين </a:t>
            </a:r>
            <a:r>
              <a:rPr sz="1196" b="1">
                <a:solidFill>
                  <a:srgbClr val="1565C0"/>
                </a:solidFill>
              </a:rPr>
              <a:t>0.7-3.5 مللي ثانية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58268" y="4544460"/>
            <a:ext cx="266693" cy="18842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934026" y="4505325"/>
            <a:ext cx="417184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عرض النطاق الترددي بين </a:t>
            </a:r>
            <a:r>
              <a:rPr sz="1196" b="1">
                <a:solidFill>
                  <a:srgbClr val="1565C0"/>
                </a:solidFill>
              </a:rPr>
              <a:t>30-50 Mbps</a:t>
            </a:r>
            <a:r>
              <a:rPr sz="1196" b="0">
                <a:solidFill>
                  <a:srgbClr val="2C3E50"/>
                </a:solidFill>
              </a:rPr>
              <a:t> لزيادة الاعتمادية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مكونات بيئة المحاكاة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58268" y="2714210"/>
            <a:ext cx="266693" cy="19132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010224" y="2676524"/>
            <a:ext cx="409564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565C0"/>
                </a:solidFill>
              </a:rPr>
              <a:t>مركز بيانات واحد</a:t>
            </a:r>
            <a:r>
              <a:rPr sz="1196" b="0">
                <a:solidFill>
                  <a:srgbClr val="2C3E50"/>
                </a:solidFill>
              </a:rPr>
              <a:t> (NajmTech_PrimaryDC) في الرياض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58268" y="3219864"/>
            <a:ext cx="266693" cy="20872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14957" y="3190874"/>
            <a:ext cx="439091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565C0"/>
                </a:solidFill>
              </a:rPr>
              <a:t>4 Hosts</a:t>
            </a:r>
            <a:r>
              <a:rPr sz="1196" b="0">
                <a:solidFill>
                  <a:srgbClr val="2C3E50"/>
                </a:solidFill>
              </a:rPr>
              <a:t> بمواصفات مختلفة (PEs: 4-10, MIPS: 1200-3000)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58268" y="3742910"/>
            <a:ext cx="266693" cy="19132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86342" y="3705224"/>
            <a:ext cx="4819529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565C0"/>
                </a:solidFill>
              </a:rPr>
              <a:t>3 فئات من الأجهزة الافتراضية</a:t>
            </a:r>
            <a:r>
              <a:rPr sz="1196" b="0">
                <a:solidFill>
                  <a:srgbClr val="2C3E50"/>
                </a:solidFill>
              </a:rPr>
              <a:t> (VMs): EdgeNano, EdgePro, EdgeUltra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258268" y="4524167"/>
            <a:ext cx="266693" cy="22901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638759" y="4505325"/>
            <a:ext cx="4467113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565C0"/>
                </a:solidFill>
              </a:rPr>
              <a:t>20 Cloudlet</a:t>
            </a:r>
            <a:r>
              <a:rPr sz="1196" b="0">
                <a:solidFill>
                  <a:srgbClr val="2C3E50"/>
                </a:solidFill>
              </a:rPr>
              <a:t> (6 خفيفة، 7 متوسطة، 7 ثقيلة) لتمثيل الأحمال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إعداد مركز البيانات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258268" y="2563467"/>
            <a:ext cx="266693" cy="2261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610484" y="2543175"/>
            <a:ext cx="1495387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المنطقة الزمنية: </a:t>
            </a:r>
            <a:r>
              <a:rPr sz="1196" b="1">
                <a:solidFill>
                  <a:srgbClr val="1565C0"/>
                </a:solidFill>
              </a:rPr>
              <a:t>+3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258268" y="3077817"/>
            <a:ext cx="266693" cy="22611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915277" y="3057525"/>
            <a:ext cx="119059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نموذج التكاليف: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72145" y="3152775"/>
            <a:ext cx="2743131" cy="1257300"/>
          </a:xfrm>
          <a:prstGeom prst="roundRect">
            <a:avLst>
              <a:gd name="adj" fmla="val 12121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24701" y="3305174"/>
            <a:ext cx="79055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تكلفة الثانية: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24541" y="3305174"/>
            <a:ext cx="342891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65C0"/>
                </a:solidFill>
              </a:rPr>
              <a:t>0.12$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86602" y="3562349"/>
            <a:ext cx="838179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تكلفة الذاكرة: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24541" y="3562349"/>
            <a:ext cx="971525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65C0"/>
                </a:solidFill>
              </a:rPr>
              <a:t>0.000025$/MB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29454" y="3819524"/>
            <a:ext cx="885802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تكلفة التخزين: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24541" y="3819524"/>
            <a:ext cx="1038199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65C0"/>
                </a:solidFill>
              </a:rPr>
              <a:t>0.0000015$/MB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72265" y="4076699"/>
            <a:ext cx="1342991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2C3E50"/>
                </a:solidFill>
              </a:rPr>
              <a:t>تكلفة النطاق الترددي: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24541" y="4076699"/>
            <a:ext cx="1047723" cy="1809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6" b="1">
                <a:solidFill>
                  <a:srgbClr val="1565C0"/>
                </a:solidFill>
              </a:rPr>
              <a:t>0.00006$/Mbps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258268" y="4676360"/>
            <a:ext cx="266693" cy="191328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333966" y="4638674"/>
            <a:ext cx="4771905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إجمالي موارد الـ Hosts: </a:t>
            </a:r>
            <a:r>
              <a:rPr sz="1196" b="1">
                <a:solidFill>
                  <a:srgbClr val="1565C0"/>
                </a:solidFill>
              </a:rPr>
              <a:t>56GB RAM</a:t>
            </a:r>
            <a:r>
              <a:rPr sz="1196" b="0">
                <a:solidFill>
                  <a:srgbClr val="2C3E50"/>
                </a:solidFill>
              </a:rPr>
              <a:t>، </a:t>
            </a:r>
            <a:r>
              <a:rPr sz="1196" b="1">
                <a:solidFill>
                  <a:srgbClr val="1565C0"/>
                </a:solidFill>
              </a:rPr>
              <a:t>4.5TB Storage</a:t>
            </a:r>
            <a:r>
              <a:rPr sz="1196" b="0">
                <a:solidFill>
                  <a:srgbClr val="2C3E50"/>
                </a:solidFill>
              </a:rPr>
              <a:t>، </a:t>
            </a:r>
            <a:r>
              <a:rPr sz="1196" b="1">
                <a:solidFill>
                  <a:srgbClr val="1565C0"/>
                </a:solidFill>
              </a:rPr>
              <a:t>52Gbps BW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5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موارد الأجهزة الافتراضية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2200275"/>
            <a:ext cx="5238619" cy="876299"/>
          </a:xfrm>
          <a:prstGeom prst="roundRect">
            <a:avLst>
              <a:gd name="adj" fmla="val 17391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05872" y="2387917"/>
            <a:ext cx="228594" cy="17716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058148" y="2352675"/>
            <a:ext cx="93342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EdgeNano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2750763"/>
            <a:ext cx="190495" cy="1372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410564" y="2714625"/>
            <a:ext cx="67625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600 MIPS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105772" y="2738157"/>
            <a:ext cx="190495" cy="16248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91415" y="2714625"/>
            <a:ext cx="65720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 GB RAM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86622" y="2749363"/>
            <a:ext cx="190495" cy="140073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096047" y="2714625"/>
            <a:ext cx="93342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8 GB Storage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791255" y="2750763"/>
            <a:ext cx="190495" cy="1372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857828" y="2714625"/>
            <a:ext cx="87627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1.5 Gbps BW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342" y="3228975"/>
            <a:ext cx="5238619" cy="876299"/>
          </a:xfrm>
          <a:prstGeom prst="roundRect">
            <a:avLst>
              <a:gd name="adj" fmla="val 17391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05872" y="3416617"/>
            <a:ext cx="228594" cy="17716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239119" y="3381375"/>
            <a:ext cx="752456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EdgePro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3779463"/>
            <a:ext cx="190495" cy="137272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0343891" y="3743325"/>
            <a:ext cx="742931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1400 MIPS</a:t>
            </a:r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39099" y="3766857"/>
            <a:ext cx="190495" cy="162485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305692" y="3743325"/>
            <a:ext cx="67625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2 GB RAM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9000899" y="3778063"/>
            <a:ext cx="190495" cy="140073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7953176" y="3743325"/>
            <a:ext cx="99057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16 GB Storage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48383" y="3779463"/>
            <a:ext cx="190495" cy="137272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695907" y="3743325"/>
            <a:ext cx="89532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2.5 Gbps BW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86342" y="4257675"/>
            <a:ext cx="5238619" cy="876299"/>
          </a:xfrm>
          <a:prstGeom prst="roundRect">
            <a:avLst>
              <a:gd name="adj" fmla="val 17391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05872" y="4451032"/>
            <a:ext cx="228594" cy="16573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077198" y="4410074"/>
            <a:ext cx="91437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EdgeUltra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4808163"/>
            <a:ext cx="190495" cy="137272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10334366" y="4772025"/>
            <a:ext cx="75245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2600 MIPS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0029574" y="4795557"/>
            <a:ext cx="190495" cy="162485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9277118" y="4772025"/>
            <a:ext cx="69530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4 GB RAM</a:t>
            </a:r>
          </a:p>
        </p:txBody>
      </p:sp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972325" y="4806763"/>
            <a:ext cx="190495" cy="140073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7905552" y="4772025"/>
            <a:ext cx="100962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32 GB Storage</a:t>
            </a:r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7600759" y="4808163"/>
            <a:ext cx="190495" cy="137272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638759" y="4772025"/>
            <a:ext cx="90485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4.5 Gbps BW</a:t>
            </a:r>
          </a:p>
        </p:txBody>
      </p:sp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334466" y="5309907"/>
            <a:ext cx="190495" cy="16248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7029274" y="5286375"/>
            <a:ext cx="422899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565C0"/>
                </a:solidFill>
              </a:rPr>
              <a:t>3 VMs لكل فئة</a:t>
            </a:r>
            <a:r>
              <a:rPr sz="1076" b="0">
                <a:solidFill>
                  <a:srgbClr val="2C3E50"/>
                </a:solidFill>
              </a:rPr>
              <a:t> (إجمالي 9 VMs) مع ترتيب FirstFit (الأخف أولاً)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الأحمال (Cloudlets)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466849"/>
            <a:ext cx="5238619" cy="1247775"/>
          </a:xfrm>
          <a:prstGeom prst="roundRect">
            <a:avLst>
              <a:gd name="adj" fmla="val 12213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105872" y="1624964"/>
            <a:ext cx="228594" cy="2171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267593" y="1619250"/>
            <a:ext cx="172398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مهام خفيفة (Light)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1993806"/>
            <a:ext cx="190495" cy="16528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591535" y="1981199"/>
            <a:ext cx="49528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6 مهام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15217" y="2000810"/>
            <a:ext cx="190495" cy="15127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67473" y="1981199"/>
            <a:ext cx="119059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12,000-16,800 MI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781630" y="2000810"/>
            <a:ext cx="190495" cy="151279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438739" y="1981199"/>
            <a:ext cx="28574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1 PE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38739" y="2266950"/>
            <a:ext cx="489572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الاستخدام: قراءات حساسات، طلبات بسيطة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2" y="2895600"/>
            <a:ext cx="5238619" cy="1247775"/>
          </a:xfrm>
          <a:prstGeom prst="roundRect">
            <a:avLst>
              <a:gd name="adj" fmla="val 12213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105872" y="3072765"/>
            <a:ext cx="228594" cy="21717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696107" y="3047999"/>
            <a:ext cx="2295467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مهام متوسطة (Medium)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3441606"/>
            <a:ext cx="190495" cy="16528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0610584" y="3409950"/>
            <a:ext cx="47623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7 مهام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91415" y="3448610"/>
            <a:ext cx="190495" cy="151279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096047" y="3409950"/>
            <a:ext cx="123821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26,000-35,600 MI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67353" y="3448610"/>
            <a:ext cx="190495" cy="151279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438739" y="3409950"/>
            <a:ext cx="37146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2 PEs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38739" y="3695699"/>
            <a:ext cx="489572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الاستخدام: تحليلات آنية، REST APIs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4343400"/>
            <a:ext cx="5238619" cy="1247775"/>
          </a:xfrm>
          <a:prstGeom prst="roundRect">
            <a:avLst>
              <a:gd name="adj" fmla="val 12213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05872" y="4501515"/>
            <a:ext cx="228594" cy="21717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248543" y="4495799"/>
            <a:ext cx="1743031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مهام ثقيلة (Heavy)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143971" y="4870356"/>
            <a:ext cx="190495" cy="1652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0610584" y="4857750"/>
            <a:ext cx="47623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7 مهام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391415" y="4877360"/>
            <a:ext cx="190495" cy="151279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105572" y="4857750"/>
            <a:ext cx="123821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52,000-65,200 MI</a:t>
            </a:r>
          </a:p>
        </p:txBody>
      </p:sp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6886402" y="4877360"/>
            <a:ext cx="190495" cy="151279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438739" y="4857750"/>
            <a:ext cx="390515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4 PEs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38739" y="5143500"/>
            <a:ext cx="4895727" cy="295274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52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الاستخدام: تقارير، Batch Analytics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86342" y="5772150"/>
            <a:ext cx="5238619" cy="457200"/>
          </a:xfrm>
          <a:prstGeom prst="roundRect">
            <a:avLst>
              <a:gd name="adj" fmla="val 33333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82070" y="5903594"/>
            <a:ext cx="228594" cy="194309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8105572" y="5905500"/>
            <a:ext cx="3000299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إجمالي </a:t>
            </a:r>
            <a:r>
              <a:rPr sz="1076" b="1">
                <a:solidFill>
                  <a:srgbClr val="1565C0"/>
                </a:solidFill>
              </a:rPr>
              <a:t>20 Cloudlet</a:t>
            </a:r>
            <a:r>
              <a:rPr sz="1076" b="0">
                <a:solidFill>
                  <a:srgbClr val="2C3E50"/>
                </a:solidFill>
              </a:rPr>
              <a:t> تم إنشاؤها في المحاكاة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نموذج حساب التكاليف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295399"/>
            <a:ext cx="5238619" cy="857250"/>
          </a:xfrm>
          <a:prstGeom prst="roundRect">
            <a:avLst>
              <a:gd name="adj" fmla="val 17777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67773" y="1619664"/>
            <a:ext cx="266693" cy="2087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8739" y="144780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تكلفة المعالجة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86782" y="1797367"/>
            <a:ext cx="228594" cy="17716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076998" y="1771650"/>
            <a:ext cx="2609784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ExecutionTime × </a:t>
            </a:r>
            <a:r>
              <a:rPr sz="1196" b="1">
                <a:solidFill>
                  <a:srgbClr val="1565C0"/>
                </a:solidFill>
              </a:rPr>
              <a:t>CostPerSecond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6342" y="2305049"/>
            <a:ext cx="5238619" cy="857250"/>
          </a:xfrm>
          <a:prstGeom prst="roundRect">
            <a:avLst>
              <a:gd name="adj" fmla="val 17777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67773" y="2620617"/>
            <a:ext cx="266693" cy="22611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38739" y="245745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تكلفة الذاكرة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86782" y="2807017"/>
            <a:ext cx="228594" cy="1771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38759" y="2781300"/>
            <a:ext cx="4048023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ExecutionTime × MemoryUsage × </a:t>
            </a:r>
            <a:r>
              <a:rPr sz="1196" b="1">
                <a:solidFill>
                  <a:srgbClr val="1565C0"/>
                </a:solidFill>
              </a:rPr>
              <a:t>CostPerMemory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86342" y="3314700"/>
            <a:ext cx="5238619" cy="857250"/>
          </a:xfrm>
          <a:prstGeom prst="roundRect">
            <a:avLst>
              <a:gd name="adj" fmla="val 17777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067773" y="3647660"/>
            <a:ext cx="266693" cy="191328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438739" y="346710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تكلفة التخزين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86782" y="3816667"/>
            <a:ext cx="228594" cy="17716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724481" y="3790949"/>
            <a:ext cx="3962300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ExecutionTime × StorageUsage × </a:t>
            </a:r>
            <a:r>
              <a:rPr sz="1196" b="1">
                <a:solidFill>
                  <a:srgbClr val="1565C0"/>
                </a:solidFill>
              </a:rPr>
              <a:t>CostPerStorage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86342" y="4324349"/>
            <a:ext cx="5238619" cy="1085850"/>
          </a:xfrm>
          <a:prstGeom prst="roundRect">
            <a:avLst>
              <a:gd name="adj" fmla="val 14035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67773" y="4773060"/>
            <a:ext cx="266693" cy="188429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438739" y="447675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تكلفة النطاق الترددي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686782" y="4940617"/>
            <a:ext cx="228594" cy="177164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14937" y="4800600"/>
            <a:ext cx="4171845" cy="457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ExecutionTime × BandwidthUsage × </a:t>
            </a:r>
            <a:r>
              <a:rPr sz="1196" b="1">
                <a:solidFill>
                  <a:srgbClr val="1565C0"/>
                </a:solidFill>
              </a:rPr>
              <a:t>CostPerBandwidth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5600700"/>
            <a:ext cx="5238619" cy="800100"/>
          </a:xfrm>
          <a:prstGeom prst="roundRect">
            <a:avLst>
              <a:gd name="adj" fmla="val 19047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1105872" y="5887692"/>
            <a:ext cx="266693" cy="226115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38739" y="5753099"/>
            <a:ext cx="4514737" cy="495299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2C3E50"/>
                </a:solidFill>
              </a:rPr>
              <a:t>TotalCost = ProcessingCost + MemoryCost + StorageCost + BandwidthCost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8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تحسين الأداء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666874"/>
            <a:ext cx="5238619" cy="1581149"/>
          </a:xfrm>
          <a:prstGeom prst="roundRect">
            <a:avLst>
              <a:gd name="adj" fmla="val 963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29674" y="1904585"/>
            <a:ext cx="266693" cy="1913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600959" y="1857375"/>
            <a:ext cx="1276318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565C0"/>
                </a:solidFill>
              </a:rPr>
              <a:t>جدولة الـ VMs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210544" y="2286000"/>
            <a:ext cx="1085822" cy="400050"/>
          </a:xfrm>
          <a:prstGeom prst="roundRect">
            <a:avLst>
              <a:gd name="adj" fmla="val 28571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0953476" y="2396377"/>
            <a:ext cx="190495" cy="17929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362940" y="2381250"/>
            <a:ext cx="51433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FirstFit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81850" y="2286000"/>
            <a:ext cx="1076298" cy="400050"/>
          </a:xfrm>
          <a:prstGeom prst="roundRect">
            <a:avLst>
              <a:gd name="adj" fmla="val 28571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9715257" y="2396377"/>
            <a:ext cx="190495" cy="17929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134246" y="2381250"/>
            <a:ext cx="504812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BestFit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8859" y="2286000"/>
            <a:ext cx="1200119" cy="400050"/>
          </a:xfrm>
          <a:prstGeom prst="roundRect">
            <a:avLst>
              <a:gd name="adj" fmla="val 28571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8486562" y="2396377"/>
            <a:ext cx="190495" cy="17929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91255" y="2381250"/>
            <a:ext cx="628634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WorstFit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6838" y="2800350"/>
            <a:ext cx="481952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المطبق في المشروع: </a:t>
            </a:r>
            <a:r>
              <a:rPr sz="1076" b="1">
                <a:solidFill>
                  <a:srgbClr val="1565C0"/>
                </a:solidFill>
              </a:rPr>
              <a:t>FirstFit</a:t>
            </a:r>
            <a:r>
              <a:rPr sz="1076" b="0">
                <a:solidFill>
                  <a:srgbClr val="2C3E50"/>
                </a:solidFill>
              </a:rPr>
              <a:t> عبر ترتيب VMs تصاعديًا (الأخف أولًا) 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86342" y="3438525"/>
            <a:ext cx="5238619" cy="1581149"/>
          </a:xfrm>
          <a:prstGeom prst="roundRect">
            <a:avLst>
              <a:gd name="adj" fmla="val 963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11029674" y="3657392"/>
            <a:ext cx="266693" cy="229014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86622" y="3629025"/>
            <a:ext cx="1790655" cy="27622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565C0"/>
                </a:solidFill>
              </a:rPr>
              <a:t>جدولة الـ Cloudlets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39079" y="4057650"/>
            <a:ext cx="1457288" cy="400050"/>
          </a:xfrm>
          <a:prstGeom prst="roundRect">
            <a:avLst>
              <a:gd name="adj" fmla="val 28571"/>
            </a:avLst>
          </a:prstGeom>
          <a:solidFill>
            <a:srgbClr val="1565C0">
              <a:alpha val="20000"/>
            </a:srgbClr>
          </a:solidFill>
          <a:ln w="24765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10924901" y="4176432"/>
            <a:ext cx="190495" cy="16248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991475" y="4152899"/>
            <a:ext cx="857228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TimeShared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1770" y="4057650"/>
            <a:ext cx="1504912" cy="400050"/>
          </a:xfrm>
          <a:prstGeom prst="roundRect">
            <a:avLst>
              <a:gd name="adj" fmla="val 28571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9343791" y="4176432"/>
            <a:ext cx="190495" cy="162485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334166" y="4152899"/>
            <a:ext cx="933426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SpaceShared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6838" y="4572000"/>
            <a:ext cx="4819529" cy="257175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 المطبق في المشروع: </a:t>
            </a:r>
            <a:r>
              <a:rPr sz="1076" b="1">
                <a:solidFill>
                  <a:srgbClr val="1565C0"/>
                </a:solidFill>
              </a:rPr>
              <a:t>CloudletSchedulerTimeShared</a:t>
            </a:r>
            <a:r>
              <a:rPr sz="1076" b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86342" y="5210174"/>
            <a:ext cx="5238619" cy="819149"/>
          </a:xfrm>
          <a:prstGeom prst="roundRect">
            <a:avLst>
              <a:gd name="adj" fmla="val 18604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9">
            <a:alphaModFix amt="100000"/>
          </a:blip>
          <a:stretch>
            <a:fillRect/>
          </a:stretch>
        </p:blipFill>
        <p:spPr>
          <a:xfrm>
            <a:off x="11143971" y="5556884"/>
            <a:ext cx="228594" cy="125729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438739" y="5362575"/>
            <a:ext cx="4552836" cy="51435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مناسب لبيئة IoT (مهام كثيرة وخفيفة/متوسطة) لأنه يحسن التزامن والاستجابة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6733" y="2133599"/>
            <a:ext cx="5238619" cy="3429000"/>
          </a:xfrm>
          <a:prstGeom prst="rect">
            <a:avLst/>
          </a:prstGeom>
          <a:blipFill>
            <a:blip r:embed="rId10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النتائج والتحليل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219200"/>
            <a:ext cx="5238619" cy="914400"/>
          </a:xfrm>
          <a:prstGeom prst="roundRect">
            <a:avLst>
              <a:gd name="adj" fmla="val 16666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67773" y="1391892"/>
            <a:ext cx="266693" cy="22611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8739" y="137160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حالة التنفيذ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739" y="1695449"/>
            <a:ext cx="4476638" cy="2857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جميع المهام انتهت بالحالة </a:t>
            </a:r>
            <a:r>
              <a:rPr sz="1196" b="1">
                <a:solidFill>
                  <a:srgbClr val="1565C0"/>
                </a:solidFill>
              </a:rPr>
              <a:t>SUCCESS</a:t>
            </a:r>
            <a:r>
              <a:rPr sz="1196" b="0">
                <a:solidFill>
                  <a:srgbClr val="2C3E50"/>
                </a:solidFill>
              </a:rPr>
              <a:t>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342" y="2324100"/>
            <a:ext cx="5238619" cy="1200150"/>
          </a:xfrm>
          <a:prstGeom prst="roundRect">
            <a:avLst>
              <a:gd name="adj" fmla="val 1269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67773" y="2537377"/>
            <a:ext cx="266693" cy="14494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8739" y="2476499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اختلافات الأداء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39" y="2800350"/>
            <a:ext cx="447663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اختلافات في </a:t>
            </a:r>
            <a:r>
              <a:rPr sz="1196" b="1">
                <a:solidFill>
                  <a:srgbClr val="1565C0"/>
                </a:solidFill>
              </a:rPr>
              <a:t>ExecutionTime</a:t>
            </a:r>
            <a:r>
              <a:rPr sz="1196" b="0">
                <a:solidFill>
                  <a:srgbClr val="2C3E50"/>
                </a:solidFill>
              </a:rPr>
              <a:t> و </a:t>
            </a:r>
            <a:r>
              <a:rPr sz="1196" b="1">
                <a:solidFill>
                  <a:srgbClr val="1565C0"/>
                </a:solidFill>
              </a:rPr>
              <a:t>Cost</a:t>
            </a:r>
            <a:r>
              <a:rPr sz="1196" b="0">
                <a:solidFill>
                  <a:srgbClr val="2C3E50"/>
                </a:solidFill>
              </a:rPr>
              <a:t> حسب VM/Host المستخدمين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342" y="3714750"/>
            <a:ext cx="5238619" cy="1200150"/>
          </a:xfrm>
          <a:prstGeom prst="roundRect">
            <a:avLst>
              <a:gd name="adj" fmla="val 1269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067773" y="3896139"/>
            <a:ext cx="266693" cy="20872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38739" y="3867149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مؤشرات الأداء المقاسة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467613" y="4190999"/>
            <a:ext cx="1447763" cy="571500"/>
          </a:xfrm>
          <a:prstGeom prst="roundRect">
            <a:avLst>
              <a:gd name="adj" fmla="val 2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0610584" y="4391305"/>
            <a:ext cx="190495" cy="170889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9581910" y="4267199"/>
            <a:ext cx="952476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Execution Time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00799" y="4190999"/>
            <a:ext cx="1314417" cy="571500"/>
          </a:xfrm>
          <a:prstGeom prst="roundRect">
            <a:avLst>
              <a:gd name="adj" fmla="val 2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>
            <a:alphaModFix amt="100000"/>
          </a:blip>
          <a:stretch>
            <a:fillRect/>
          </a:stretch>
        </p:blipFill>
        <p:spPr>
          <a:xfrm>
            <a:off x="9010424" y="4395507"/>
            <a:ext cx="190495" cy="162485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8115097" y="4267199"/>
            <a:ext cx="819129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Waiting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38739" y="4190999"/>
            <a:ext cx="1409664" cy="571500"/>
          </a:xfrm>
          <a:prstGeom prst="roundRect">
            <a:avLst>
              <a:gd name="adj" fmla="val 20000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7">
            <a:alphaModFix amt="100000"/>
          </a:blip>
          <a:stretch>
            <a:fillRect/>
          </a:stretch>
        </p:blipFill>
        <p:spPr>
          <a:xfrm>
            <a:off x="7543611" y="4401110"/>
            <a:ext cx="190495" cy="151279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53036" y="4267199"/>
            <a:ext cx="914377" cy="4191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2C3E50"/>
                </a:solidFill>
              </a:rPr>
              <a:t>CPU Utilization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86342" y="5105400"/>
            <a:ext cx="5238619" cy="1866899"/>
          </a:xfrm>
          <a:prstGeom prst="roundRect">
            <a:avLst>
              <a:gd name="adj" fmla="val 8163"/>
            </a:avLst>
          </a:prstGeom>
          <a:solidFill>
            <a:srgbClr val="1565C0">
              <a:alpha val="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8">
            <a:alphaModFix amt="100000"/>
          </a:blip>
          <a:stretch>
            <a:fillRect/>
          </a:stretch>
        </p:blipFill>
        <p:spPr>
          <a:xfrm>
            <a:off x="11182070" y="5286935"/>
            <a:ext cx="190495" cy="151279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9991475" y="5257800"/>
            <a:ext cx="1114397" cy="20955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76" b="1">
                <a:solidFill>
                  <a:srgbClr val="1565C0"/>
                </a:solidFill>
              </a:rPr>
              <a:t>عينة من النتائج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6733" y="2381250"/>
            <a:ext cx="5238619" cy="3429000"/>
          </a:xfrm>
          <a:prstGeom prst="rect">
            <a:avLst/>
          </a:prstGeom>
          <a:blipFill>
            <a:blip r:embed="rId9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3820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1695" cy="8382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FFFFFF"/>
                </a:solidFill>
              </a:rPr>
              <a:t>الخلاصة والتوصيات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86342" y="1219200"/>
            <a:ext cx="5238619" cy="1200150"/>
          </a:xfrm>
          <a:prstGeom prst="roundRect">
            <a:avLst>
              <a:gd name="adj" fmla="val 1269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 amt="100000"/>
          </a:blip>
          <a:stretch>
            <a:fillRect/>
          </a:stretch>
        </p:blipFill>
        <p:spPr>
          <a:xfrm>
            <a:off x="11067773" y="1420881"/>
            <a:ext cx="266693" cy="1681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38739" y="1371600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تحويل المشروع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38739" y="1695449"/>
            <a:ext cx="447663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تحويل المشروع من بيئة </a:t>
            </a:r>
            <a:r>
              <a:rPr sz="1196" b="1">
                <a:solidFill>
                  <a:srgbClr val="1565C0"/>
                </a:solidFill>
              </a:rPr>
              <a:t>"تكنو سيرفر"</a:t>
            </a:r>
            <a:r>
              <a:rPr sz="1196" b="0">
                <a:solidFill>
                  <a:srgbClr val="2C3E50"/>
                </a:solidFill>
              </a:rPr>
              <a:t> إلى </a:t>
            </a:r>
            <a:r>
              <a:rPr sz="1196" b="1">
                <a:solidFill>
                  <a:srgbClr val="1565C0"/>
                </a:solidFill>
              </a:rPr>
              <a:t>NajmTech Solutions</a:t>
            </a:r>
            <a:r>
              <a:rPr sz="1196" b="0">
                <a:solidFill>
                  <a:srgbClr val="2C3E50"/>
                </a:solidFill>
              </a:rPr>
              <a:t> مع تغيير شامل في المواصفات 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86342" y="2609850"/>
            <a:ext cx="5238619" cy="1200150"/>
          </a:xfrm>
          <a:prstGeom prst="roundRect">
            <a:avLst>
              <a:gd name="adj" fmla="val 12698"/>
            </a:avLst>
          </a:prstGeom>
          <a:solidFill>
            <a:srgbClr val="1565C0">
              <a:alpha val="5000"/>
            </a:srgbClr>
          </a:solidFill>
          <a:ln w="3302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>
            <a:alphaModFix amt="100000"/>
          </a:blip>
          <a:stretch>
            <a:fillRect/>
          </a:stretch>
        </p:blipFill>
        <p:spPr>
          <a:xfrm>
            <a:off x="11067773" y="2782542"/>
            <a:ext cx="266693" cy="22611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8739" y="2762249"/>
            <a:ext cx="44766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520"/>
              </a:spcAft>
            </a:pPr>
            <a:r>
              <a:rPr sz="1315" b="1">
                <a:solidFill>
                  <a:srgbClr val="1565C0"/>
                </a:solidFill>
              </a:rPr>
              <a:t>تغييرات رئيسية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38739" y="3086100"/>
            <a:ext cx="4476638" cy="571500"/>
          </a:xfrm>
          <a:prstGeom prst="rect">
            <a:avLst/>
          </a:prstGeom>
          <a:noFill/>
        </p:spPr>
        <p:txBody>
          <a:bodyPr wrap="square" anchor="ctr" lIns="73152" rIns="73152" tIns="54864" bIns="54864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 تغيير شامل في مواصفات </a:t>
            </a:r>
            <a:r>
              <a:rPr sz="1196" b="1">
                <a:solidFill>
                  <a:srgbClr val="1565C0"/>
                </a:solidFill>
              </a:rPr>
              <a:t>Hosts</a:t>
            </a:r>
            <a:r>
              <a:rPr sz="1196" b="0">
                <a:solidFill>
                  <a:srgbClr val="2C3E50"/>
                </a:solidFill>
              </a:rPr>
              <a:t> و </a:t>
            </a:r>
            <a:r>
              <a:rPr sz="1196" b="1">
                <a:solidFill>
                  <a:srgbClr val="1565C0"/>
                </a:solidFill>
              </a:rPr>
              <a:t>VMs</a:t>
            </a:r>
            <a:r>
              <a:rPr sz="1196" b="0">
                <a:solidFill>
                  <a:srgbClr val="2C3E50"/>
                </a:solidFill>
              </a:rPr>
              <a:t> و </a:t>
            </a:r>
            <a:r>
              <a:rPr sz="1196" b="1">
                <a:solidFill>
                  <a:srgbClr val="1565C0"/>
                </a:solidFill>
              </a:rPr>
              <a:t>Cloudlets</a:t>
            </a:r>
            <a:r>
              <a:rPr sz="1196" b="0">
                <a:solidFill>
                  <a:srgbClr val="2C3E50"/>
                </a:solidFill>
              </a:rPr>
              <a:t> وطوبولوجيا الشبكة ونموذج التكاليف 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86342" y="4000500"/>
            <a:ext cx="5238619" cy="2895600"/>
          </a:xfrm>
          <a:prstGeom prst="roundRect">
            <a:avLst>
              <a:gd name="adj" fmla="val 5263"/>
            </a:avLst>
          </a:prstGeom>
          <a:solidFill>
            <a:srgbClr val="1565C0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>
            <a:alphaModFix amt="100000"/>
          </a:blip>
          <a:stretch>
            <a:fillRect/>
          </a:stretch>
        </p:blipFill>
        <p:spPr>
          <a:xfrm>
            <a:off x="11143971" y="4179569"/>
            <a:ext cx="228594" cy="194309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572285" y="4152899"/>
            <a:ext cx="2476438" cy="247649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15" b="1">
                <a:solidFill>
                  <a:srgbClr val="1565C0"/>
                </a:solidFill>
              </a:rPr>
              <a:t>السيناريو الأوفر والتوصيات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82070" y="6205257"/>
            <a:ext cx="190495" cy="162485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515037" y="6172200"/>
            <a:ext cx="357178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اختيار VM "مناسبة للحمل" بدون مبالغة بالموارد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>
            <a:alphaModFix amt="100000"/>
          </a:blip>
          <a:stretch>
            <a:fillRect/>
          </a:stretch>
        </p:blipFill>
        <p:spPr>
          <a:xfrm>
            <a:off x="11182070" y="6548157"/>
            <a:ext cx="190495" cy="162485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895927" y="6515100"/>
            <a:ext cx="4190895" cy="228600"/>
          </a:xfrm>
          <a:prstGeom prst="rect">
            <a:avLst/>
          </a:prstGeom>
          <a:noFill/>
        </p:spPr>
        <p:txBody>
          <a:bodyPr wrap="none" anchor="ctr" lIns="73152" rIns="73152" tIns="54864" bIns="54864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2C3E50"/>
                </a:solidFill>
              </a:rPr>
              <a:t>الحفاظ على نفس مخرجات المتطلبات (Console + CSV)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733" y="2343150"/>
            <a:ext cx="5238619" cy="3429000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